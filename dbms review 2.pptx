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9" r:id="rId4"/>
    <p:sldId id="301" r:id="rId5"/>
    <p:sldId id="285" r:id="rId6"/>
    <p:sldId id="288" r:id="rId7"/>
    <p:sldId id="284" r:id="rId8"/>
    <p:sldId id="287" r:id="rId9"/>
    <p:sldId id="300" r:id="rId10"/>
    <p:sldId id="292" r:id="rId11"/>
    <p:sldId id="293" r:id="rId12"/>
    <p:sldId id="294" r:id="rId13"/>
    <p:sldId id="295" r:id="rId14"/>
    <p:sldId id="296" r:id="rId15"/>
    <p:sldId id="299" r:id="rId16"/>
    <p:sldId id="297" r:id="rId17"/>
    <p:sldId id="268" r:id="rId18"/>
    <p:sldId id="269" r:id="rId19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69C24A-1F65-4140-B64F-DAF31CA90097}" v="19" dt="2026-07-20T06:26:16.30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244" autoAdjust="0"/>
    <p:restoredTop sz="94660"/>
  </p:normalViewPr>
  <p:slideViewPr>
    <p:cSldViewPr>
      <p:cViewPr varScale="1">
        <p:scale>
          <a:sx n="69" d="100"/>
          <a:sy n="69" d="100"/>
        </p:scale>
        <p:origin x="1954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419B0A-DB98-47ED-A0D2-B47FD394FE07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E471F2-2083-493A-8C9E-53209FFA1E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6813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48056" y="258722"/>
            <a:ext cx="4601366" cy="70479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30316" y="125730"/>
            <a:ext cx="4997767" cy="104513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63904" y="251407"/>
            <a:ext cx="4577410" cy="50684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2718911" y="290750"/>
            <a:ext cx="4471670" cy="400685"/>
          </a:xfrm>
          <a:custGeom>
            <a:avLst/>
            <a:gdLst/>
            <a:ahLst/>
            <a:cxnLst/>
            <a:rect l="l" t="t" r="r" b="b"/>
            <a:pathLst>
              <a:path w="4471670" h="400684">
                <a:moveTo>
                  <a:pt x="4386510" y="0"/>
                </a:moveTo>
                <a:lnTo>
                  <a:pt x="84762" y="0"/>
                </a:lnTo>
                <a:lnTo>
                  <a:pt x="51758" y="5238"/>
                </a:lnTo>
                <a:lnTo>
                  <a:pt x="24831" y="19592"/>
                </a:lnTo>
                <a:lnTo>
                  <a:pt x="6705" y="40757"/>
                </a:lnTo>
                <a:lnTo>
                  <a:pt x="0" y="66741"/>
                </a:lnTo>
                <a:lnTo>
                  <a:pt x="0" y="333813"/>
                </a:lnTo>
                <a:lnTo>
                  <a:pt x="6705" y="359797"/>
                </a:lnTo>
                <a:lnTo>
                  <a:pt x="24831" y="381066"/>
                </a:lnTo>
                <a:lnTo>
                  <a:pt x="51758" y="395316"/>
                </a:lnTo>
                <a:lnTo>
                  <a:pt x="84762" y="400554"/>
                </a:lnTo>
                <a:lnTo>
                  <a:pt x="4386510" y="400554"/>
                </a:lnTo>
                <a:lnTo>
                  <a:pt x="4419514" y="395316"/>
                </a:lnTo>
                <a:lnTo>
                  <a:pt x="4446441" y="381066"/>
                </a:lnTo>
                <a:lnTo>
                  <a:pt x="4464567" y="359797"/>
                </a:lnTo>
                <a:lnTo>
                  <a:pt x="4471273" y="333813"/>
                </a:lnTo>
                <a:lnTo>
                  <a:pt x="4471273" y="66741"/>
                </a:lnTo>
                <a:lnTo>
                  <a:pt x="4464567" y="40757"/>
                </a:lnTo>
                <a:lnTo>
                  <a:pt x="4446441" y="19592"/>
                </a:lnTo>
                <a:lnTo>
                  <a:pt x="4419514" y="5238"/>
                </a:lnTo>
                <a:lnTo>
                  <a:pt x="4386510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92554" y="282840"/>
            <a:ext cx="3375117" cy="56971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30970" y="881554"/>
            <a:ext cx="2528570" cy="3752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1188" y="1409149"/>
            <a:ext cx="8949055" cy="32943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3968" y="362578"/>
            <a:ext cx="4610910" cy="62864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0" y="1197215"/>
            <a:ext cx="10058400" cy="287771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ct val="150000"/>
              </a:lnSpc>
              <a:spcBef>
                <a:spcPts val="90"/>
              </a:spcBef>
            </a:pPr>
            <a:r>
              <a:rPr lang="en-IN"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Base Management System Cornerstone Project </a:t>
            </a:r>
            <a:br>
              <a:rPr lang="en-IN"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Review – I &amp;II</a:t>
            </a:r>
            <a:br>
              <a:rPr lang="en-IN"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32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1265624" y="2819400"/>
            <a:ext cx="8139282" cy="529503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HOSPITAL MANAGEMENT SYSTEM</a:t>
            </a: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endParaRPr lang="en-IN" sz="2400" dirty="0">
              <a:latin typeface="DengXian Light" panose="02010600030101010101" pitchFamily="2" charset="-122"/>
              <a:ea typeface="DengXian Light" panose="02010600030101010101" pitchFamily="2" charset="-122"/>
              <a:cs typeface="Arial" panose="020B0604020202020204" pitchFamily="34" charset="0"/>
            </a:endParaRP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en-IN" sz="2400" dirty="0">
                <a:latin typeface="DengXian Light" panose="02010600030101010101" pitchFamily="2" charset="-122"/>
                <a:ea typeface="DengXian Light" panose="02010600030101010101" pitchFamily="2" charset="-122"/>
                <a:cs typeface="Arial" panose="020B0604020202020204" pitchFamily="34" charset="0"/>
              </a:rPr>
              <a:t>A Project Guided By V G L </a:t>
            </a:r>
            <a:r>
              <a:rPr lang="en-IN" sz="2400" dirty="0" err="1">
                <a:latin typeface="DengXian Light" panose="02010600030101010101" pitchFamily="2" charset="-122"/>
                <a:ea typeface="DengXian Light" panose="02010600030101010101" pitchFamily="2" charset="-122"/>
                <a:cs typeface="Arial" panose="020B0604020202020204" pitchFamily="34" charset="0"/>
              </a:rPr>
              <a:t>Narasamba</a:t>
            </a:r>
            <a:r>
              <a:rPr lang="en-IN" sz="2400" dirty="0">
                <a:latin typeface="DengXian Light" panose="02010600030101010101" pitchFamily="2" charset="-122"/>
                <a:ea typeface="DengXian Light" panose="02010600030101010101" pitchFamily="2" charset="-122"/>
                <a:cs typeface="Arial" panose="020B0604020202020204" pitchFamily="34" charset="0"/>
              </a:rPr>
              <a:t> Mam</a:t>
            </a:r>
            <a:endParaRPr lang="en-IN" sz="2400" dirty="0">
              <a:solidFill>
                <a:srgbClr val="FF0000"/>
              </a:solidFill>
              <a:latin typeface="DengXian Light" panose="02010600030101010101" pitchFamily="2" charset="-122"/>
              <a:ea typeface="DengXian Light" panose="02010600030101010101" pitchFamily="2" charset="-122"/>
              <a:cs typeface="Arial" panose="020B0604020202020204" pitchFamily="34" charset="0"/>
            </a:endParaRP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endParaRPr lang="en-I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  <a:endParaRPr lang="en-IN" sz="1800" spc="-1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en-IN" sz="2400" spc="-1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B Sri Lekha – 25B11AIC90</a:t>
            </a: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en-IN" sz="2400" spc="-1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Mounika Sri – 25B11AI407</a:t>
            </a: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en-IN" sz="2400" spc="-1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 Sahasra – 25B11AI882</a:t>
            </a: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en-IN" sz="2400" spc="-1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 Navya Sri – 25B11AI932</a:t>
            </a: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endParaRPr lang="en-IN" sz="1400" spc="-1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en-IN" sz="240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</a:t>
            </a:r>
          </a:p>
          <a:p>
            <a:pPr marL="1270" algn="ctr">
              <a:lnSpc>
                <a:spcPct val="100000"/>
              </a:lnSpc>
              <a:spcBef>
                <a:spcPts val="994"/>
              </a:spcBef>
            </a:pPr>
            <a:r>
              <a:rPr lang="en-IN" sz="2400" spc="-1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&amp;MACHINE LEARNING</a:t>
            </a:r>
          </a:p>
          <a:p>
            <a:pPr marL="1270" algn="ctr">
              <a:lnSpc>
                <a:spcPct val="100000"/>
              </a:lnSpc>
              <a:spcBef>
                <a:spcPts val="994"/>
              </a:spcBef>
            </a:pPr>
            <a:endParaRPr lang="en-IN" sz="3200" spc="-10" dirty="0">
              <a:solidFill>
                <a:srgbClr val="94373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00000" y="1497893"/>
            <a:ext cx="4100000" cy="45871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30"/>
              </a:spcBef>
              <a:buFont typeface="Cambria"/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Finalize title, objectives &amp; problem statement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entities &amp; attributes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ER diagram &amp; relationships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relational database schema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Primary &amp; Foreign Keys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GitHub repo &amp; responsibilities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creation &amp; constraints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5029200" y="1389091"/>
            <a:ext cx="4170800" cy="378693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30"/>
              </a:spcBef>
              <a:buFont typeface="Cambria"/>
              <a:buAutoNum type="arabicPeriod" startAt="9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sample data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DDL, DML &amp; DQL operations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CRUD operations &amp; SQL queries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integrity &amp; validation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documentation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 &amp; present database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grpSp>
        <p:nvGrpSpPr>
          <p:cNvPr id="5" name="object 3"/>
          <p:cNvGrpSpPr/>
          <p:nvPr/>
        </p:nvGrpSpPr>
        <p:grpSpPr>
          <a:xfrm>
            <a:off x="2438400" y="33670"/>
            <a:ext cx="5334000" cy="1198311"/>
            <a:chOff x="2648188" y="47148"/>
            <a:chExt cx="5103904" cy="1198311"/>
          </a:xfrm>
        </p:grpSpPr>
        <p:pic>
          <p:nvPicPr>
            <p:cNvPr id="6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/>
          <p:cNvSpPr txBox="1">
            <a:spLocks/>
          </p:cNvSpPr>
          <p:nvPr/>
        </p:nvSpPr>
        <p:spPr>
          <a:xfrm>
            <a:off x="3604543" y="286092"/>
            <a:ext cx="2853690" cy="3552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30"/>
              </a:spcBef>
            </a:pPr>
            <a:r>
              <a:rPr lang="en-IN"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Outline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80E80D0-6F89-D49C-8F71-3B704975761E}"/>
              </a:ext>
            </a:extLst>
          </p:cNvPr>
          <p:cNvSpPr txBox="1"/>
          <p:nvPr/>
        </p:nvSpPr>
        <p:spPr>
          <a:xfrm>
            <a:off x="3810000" y="297283"/>
            <a:ext cx="5029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Sitka Text" pitchFamily="2" charset="0"/>
                <a:cs typeface="Times New Roman" panose="02020603050405020304" pitchFamily="18" charset="0"/>
              </a:rPr>
              <a:t>     </a:t>
            </a:r>
            <a:r>
              <a:rPr lang="en-IN" sz="2200" b="1" dirty="0">
                <a:solidFill>
                  <a:schemeClr val="bg1"/>
                </a:solidFill>
                <a:latin typeface="Sitka Text" pitchFamily="2" charset="0"/>
                <a:cs typeface="Times New Roman" panose="02020603050405020304" pitchFamily="18" charset="0"/>
              </a:rPr>
              <a:t>ABSTRACT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B8826DA-C0C7-3280-A179-8C72B3DEAD4E}"/>
              </a:ext>
            </a:extLst>
          </p:cNvPr>
          <p:cNvSpPr txBox="1"/>
          <p:nvPr/>
        </p:nvSpPr>
        <p:spPr>
          <a:xfrm>
            <a:off x="533026" y="1216578"/>
            <a:ext cx="899234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Aptos" panose="020B0004020202020204" pitchFamily="34" charset="0"/>
              </a:rPr>
              <a:t>The </a:t>
            </a:r>
            <a:r>
              <a:rPr lang="en-IN" sz="2400" b="1" dirty="0">
                <a:latin typeface="Aptos" panose="020B0004020202020204" pitchFamily="34" charset="0"/>
              </a:rPr>
              <a:t>Hospital Management System</a:t>
            </a:r>
            <a:r>
              <a:rPr lang="en-IN" sz="2400" dirty="0">
                <a:latin typeface="Aptos" panose="020B0004020202020204" pitchFamily="34" charset="0"/>
              </a:rPr>
              <a:t> is a DBMS project designed to manage hospital records digitally. It manages </a:t>
            </a:r>
            <a:r>
              <a:rPr lang="en-IN" sz="2400" b="1" dirty="0">
                <a:latin typeface="Aptos" panose="020B0004020202020204" pitchFamily="34" charset="0"/>
              </a:rPr>
              <a:t>patients, doctors, appointments, treatments, admissions, billing, and medicines</a:t>
            </a:r>
            <a:r>
              <a:rPr lang="en-IN" sz="2400" dirty="0">
                <a:latin typeface="Aptos" panose="020B0004020202020204" pitchFamily="34" charset="0"/>
              </a:rPr>
              <a:t> in a centralized database. The system reduces data errors and makes information retrieval easier using </a:t>
            </a:r>
            <a:r>
              <a:rPr lang="en-IN" sz="2400" b="1" dirty="0">
                <a:latin typeface="Aptos" panose="020B0004020202020204" pitchFamily="34" charset="0"/>
              </a:rPr>
              <a:t>ER diagrams, tables, Primary Keys, and Foreign Keys</a:t>
            </a:r>
            <a:r>
              <a:rPr lang="en-IN" sz="2400" dirty="0">
                <a:latin typeface="Aptos" panose="020B0004020202020204" pitchFamily="34" charset="0"/>
              </a:rPr>
              <a:t>.</a:t>
            </a:r>
            <a:endParaRPr lang="en-IN" sz="2400" dirty="0">
              <a:latin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1A0C69-B81B-E332-0D31-572C9C72EA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24199" y="3699499"/>
            <a:ext cx="3987739" cy="3439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89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21CEF-9C2D-8A4C-EAD4-660945B08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DD7D7FC9-8017-29F9-79A0-3578316BA899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40188EA7-A9AA-8C31-ED37-5D3F06092D0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C203EE1F-AA58-F2DC-A208-C5F0750BF6B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F7404A5B-E88F-2526-F83F-CD57CC46600B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67F34296-2CB0-1730-365B-34B6A293F231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B0D4567D-4CDC-5EA9-679E-059D2E10EEAE}"/>
              </a:ext>
            </a:extLst>
          </p:cNvPr>
          <p:cNvSpPr txBox="1"/>
          <p:nvPr/>
        </p:nvSpPr>
        <p:spPr>
          <a:xfrm>
            <a:off x="4374723" y="313587"/>
            <a:ext cx="458526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dirty="0">
                <a:solidFill>
                  <a:schemeClr val="bg1"/>
                </a:solidFill>
                <a:latin typeface="Sitka Text" pitchFamily="2" charset="0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B2AA3A1B-FD1C-6420-2489-4A244B33DFDE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C189258-02D3-BF05-15C8-117B1BF736BC}"/>
              </a:ext>
            </a:extLst>
          </p:cNvPr>
          <p:cNvSpPr txBox="1"/>
          <p:nvPr/>
        </p:nvSpPr>
        <p:spPr>
          <a:xfrm>
            <a:off x="949371" y="1373688"/>
            <a:ext cx="838200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u="sng" dirty="0">
                <a:latin typeface="Aptos" panose="020B0004020202020204" pitchFamily="34" charset="0"/>
              </a:rPr>
              <a:t>Objectives</a:t>
            </a:r>
          </a:p>
          <a:p>
            <a:pPr lvl="0"/>
            <a:r>
              <a:rPr lang="en-IN" sz="2400" dirty="0">
                <a:latin typeface="Aptos" panose="020B0004020202020204" pitchFamily="34" charset="0"/>
              </a:rPr>
              <a:t>Maintain patient and doctor records </a:t>
            </a:r>
          </a:p>
          <a:p>
            <a:pPr lvl="0"/>
            <a:r>
              <a:rPr lang="en-IN" sz="2400" dirty="0">
                <a:latin typeface="Aptos" panose="020B0004020202020204" pitchFamily="34" charset="0"/>
              </a:rPr>
              <a:t>Manage appointments, treatments and admissions </a:t>
            </a:r>
          </a:p>
          <a:p>
            <a:pPr lvl="0"/>
            <a:r>
              <a:rPr lang="en-IN" sz="2400" dirty="0">
                <a:latin typeface="Aptos" panose="020B0004020202020204" pitchFamily="34" charset="0"/>
              </a:rPr>
              <a:t>Manage medicines, prescriptions and billing </a:t>
            </a:r>
          </a:p>
          <a:p>
            <a:pPr lvl="0"/>
            <a:r>
              <a:rPr lang="en-IN" sz="2400" dirty="0">
                <a:latin typeface="Aptos" panose="020B0004020202020204" pitchFamily="34" charset="0"/>
              </a:rPr>
              <a:t>Retrieve information using SQL </a:t>
            </a:r>
          </a:p>
          <a:p>
            <a:pPr lvl="0"/>
            <a:r>
              <a:rPr lang="en-IN" sz="2400" dirty="0">
                <a:latin typeface="Aptos" panose="020B0004020202020204" pitchFamily="34" charset="0"/>
              </a:rPr>
              <a:t>Establish relationships using PK and FK </a:t>
            </a:r>
          </a:p>
          <a:p>
            <a:pPr lvl="0"/>
            <a:endParaRPr lang="en-IN" sz="2400" dirty="0">
              <a:latin typeface="Aptos" panose="020B0004020202020204" pitchFamily="34" charset="0"/>
            </a:endParaRPr>
          </a:p>
          <a:p>
            <a:r>
              <a:rPr lang="en-IN" sz="2400" b="1" u="sng" dirty="0">
                <a:latin typeface="Aptos" panose="020B0004020202020204" pitchFamily="34" charset="0"/>
              </a:rPr>
              <a:t>Problem Statement</a:t>
            </a:r>
          </a:p>
          <a:p>
            <a:r>
              <a:rPr lang="en-IN" sz="2400" dirty="0">
                <a:latin typeface="Aptos" panose="020B0004020202020204" pitchFamily="34" charset="0"/>
              </a:rPr>
              <a:t>Manual hospital records can cause </a:t>
            </a:r>
            <a:r>
              <a:rPr lang="en-IN" sz="2400" b="1" dirty="0">
                <a:latin typeface="Aptos" panose="020B0004020202020204" pitchFamily="34" charset="0"/>
              </a:rPr>
              <a:t>data duplication, inconsistency, retrieval difficulties, appointment tracking issues, and billing errors</a:t>
            </a:r>
            <a:r>
              <a:rPr lang="en-IN" sz="2400" dirty="0">
                <a:latin typeface="Aptos" panose="020B0004020202020204" pitchFamily="34" charset="0"/>
              </a:rPr>
              <a:t>. A centralized database is needed for efficient hospital data management.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70622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950" b="1" dirty="0">
                <a:solidFill>
                  <a:schemeClr val="bg1"/>
                </a:solidFill>
                <a:latin typeface="Sitka Text" pitchFamily="2" charset="0"/>
                <a:cs typeface="Times New Roman" panose="02020603050405020304" pitchFamily="18" charset="0"/>
              </a:rPr>
              <a:t>ENTITIES &amp; ATTRIBUTES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800D15-2389-5516-DA9E-AC441973A9C8}"/>
              </a:ext>
            </a:extLst>
          </p:cNvPr>
          <p:cNvSpPr txBox="1"/>
          <p:nvPr/>
        </p:nvSpPr>
        <p:spPr>
          <a:xfrm>
            <a:off x="838200" y="973627"/>
            <a:ext cx="8839200" cy="5201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600" b="1" u="sng" dirty="0">
                <a:latin typeface="Aptos" panose="020B0004020202020204" pitchFamily="34" charset="0"/>
              </a:rPr>
              <a:t>Entities &amp; Attributes</a:t>
            </a:r>
          </a:p>
          <a:p>
            <a:endParaRPr lang="en-IN" sz="2400" b="1" u="sng" dirty="0">
              <a:latin typeface="Aptos" panose="020B0004020202020204" pitchFamily="34" charset="0"/>
            </a:endParaRPr>
          </a:p>
          <a:p>
            <a:pPr marL="342900" lvl="0" indent="-342900">
              <a:buFont typeface="Courier New" panose="02070309020205020404" pitchFamily="49" charset="0"/>
              <a:buChar char="o"/>
            </a:pPr>
            <a:r>
              <a:rPr lang="en-IN" sz="2600" dirty="0">
                <a:latin typeface="Aptos" panose="020B0004020202020204" pitchFamily="34" charset="0"/>
              </a:rPr>
              <a:t>Patient – </a:t>
            </a:r>
            <a:r>
              <a:rPr lang="en-IN" sz="2600" dirty="0" err="1">
                <a:latin typeface="Aptos" panose="020B0004020202020204" pitchFamily="34" charset="0"/>
              </a:rPr>
              <a:t>Patient_ID</a:t>
            </a:r>
            <a:r>
              <a:rPr lang="en-IN" sz="2600" dirty="0">
                <a:latin typeface="Aptos" panose="020B0004020202020204" pitchFamily="34" charset="0"/>
              </a:rPr>
              <a:t>, Name, Gender, DOB, Phone </a:t>
            </a:r>
          </a:p>
          <a:p>
            <a:pPr marL="342900" lvl="0" indent="-342900">
              <a:buFont typeface="Courier New" panose="02070309020205020404" pitchFamily="49" charset="0"/>
              <a:buChar char="o"/>
            </a:pPr>
            <a:r>
              <a:rPr lang="en-IN" sz="2600" dirty="0">
                <a:latin typeface="Aptos" panose="020B0004020202020204" pitchFamily="34" charset="0"/>
              </a:rPr>
              <a:t>Doctor – </a:t>
            </a:r>
            <a:r>
              <a:rPr lang="en-IN" sz="2600" dirty="0" err="1">
                <a:latin typeface="Aptos" panose="020B0004020202020204" pitchFamily="34" charset="0"/>
              </a:rPr>
              <a:t>Doctor_ID</a:t>
            </a:r>
            <a:r>
              <a:rPr lang="en-IN" sz="2600" dirty="0">
                <a:latin typeface="Aptos" panose="020B0004020202020204" pitchFamily="34" charset="0"/>
              </a:rPr>
              <a:t>, Name, Specialization, Phone, Email </a:t>
            </a:r>
          </a:p>
          <a:p>
            <a:pPr marL="342900" lvl="0" indent="-342900">
              <a:buFont typeface="Courier New" panose="02070309020205020404" pitchFamily="49" charset="0"/>
              <a:buChar char="o"/>
            </a:pPr>
            <a:r>
              <a:rPr lang="en-IN" sz="2600" dirty="0">
                <a:latin typeface="Aptos" panose="020B0004020202020204" pitchFamily="34" charset="0"/>
              </a:rPr>
              <a:t>Department – </a:t>
            </a:r>
            <a:r>
              <a:rPr lang="en-IN" sz="2600" dirty="0" err="1">
                <a:latin typeface="Aptos" panose="020B0004020202020204" pitchFamily="34" charset="0"/>
              </a:rPr>
              <a:t>Department_ID</a:t>
            </a:r>
            <a:r>
              <a:rPr lang="en-IN" sz="2600" dirty="0">
                <a:latin typeface="Aptos" panose="020B0004020202020204" pitchFamily="34" charset="0"/>
              </a:rPr>
              <a:t>, Name, Location </a:t>
            </a:r>
          </a:p>
          <a:p>
            <a:pPr marL="342900" lvl="0" indent="-342900">
              <a:buFont typeface="Courier New" panose="02070309020205020404" pitchFamily="49" charset="0"/>
              <a:buChar char="o"/>
            </a:pPr>
            <a:r>
              <a:rPr lang="en-IN" sz="2600" dirty="0">
                <a:latin typeface="Aptos" panose="020B0004020202020204" pitchFamily="34" charset="0"/>
              </a:rPr>
              <a:t>Appointment – </a:t>
            </a:r>
            <a:r>
              <a:rPr lang="en-IN" sz="2600" dirty="0" err="1">
                <a:latin typeface="Aptos" panose="020B0004020202020204" pitchFamily="34" charset="0"/>
              </a:rPr>
              <a:t>Appointment_ID</a:t>
            </a:r>
            <a:r>
              <a:rPr lang="en-IN" sz="2600" dirty="0">
                <a:latin typeface="Aptos" panose="020B0004020202020204" pitchFamily="34" charset="0"/>
              </a:rPr>
              <a:t>, </a:t>
            </a:r>
            <a:r>
              <a:rPr lang="en-IN" sz="2600" dirty="0" err="1">
                <a:latin typeface="Aptos" panose="020B0004020202020204" pitchFamily="34" charset="0"/>
              </a:rPr>
              <a:t>Patient_ID</a:t>
            </a:r>
            <a:r>
              <a:rPr lang="en-IN" sz="2600" dirty="0">
                <a:latin typeface="Aptos" panose="020B0004020202020204" pitchFamily="34" charset="0"/>
              </a:rPr>
              <a:t>, </a:t>
            </a:r>
            <a:r>
              <a:rPr lang="en-IN" sz="2600" dirty="0" err="1">
                <a:latin typeface="Aptos" panose="020B0004020202020204" pitchFamily="34" charset="0"/>
              </a:rPr>
              <a:t>Doctor_ID</a:t>
            </a:r>
            <a:r>
              <a:rPr lang="en-IN" sz="2600" dirty="0">
                <a:latin typeface="Aptos" panose="020B0004020202020204" pitchFamily="34" charset="0"/>
              </a:rPr>
              <a:t>, Date, Time </a:t>
            </a:r>
          </a:p>
          <a:p>
            <a:pPr marL="342900" lvl="0" indent="-342900">
              <a:buFont typeface="Courier New" panose="02070309020205020404" pitchFamily="49" charset="0"/>
              <a:buChar char="o"/>
            </a:pPr>
            <a:r>
              <a:rPr lang="en-IN" sz="2600" dirty="0">
                <a:latin typeface="Aptos" panose="020B0004020202020204" pitchFamily="34" charset="0"/>
              </a:rPr>
              <a:t>Admission – </a:t>
            </a:r>
            <a:r>
              <a:rPr lang="en-IN" sz="2600" dirty="0" err="1">
                <a:latin typeface="Aptos" panose="020B0004020202020204" pitchFamily="34" charset="0"/>
              </a:rPr>
              <a:t>Admission_ID</a:t>
            </a:r>
            <a:r>
              <a:rPr lang="en-IN" sz="2600" dirty="0">
                <a:latin typeface="Aptos" panose="020B0004020202020204" pitchFamily="34" charset="0"/>
              </a:rPr>
              <a:t>, </a:t>
            </a:r>
            <a:r>
              <a:rPr lang="en-IN" sz="2600" dirty="0" err="1">
                <a:latin typeface="Aptos" panose="020B0004020202020204" pitchFamily="34" charset="0"/>
              </a:rPr>
              <a:t>Patient_ID</a:t>
            </a:r>
            <a:r>
              <a:rPr lang="en-IN" sz="2600" dirty="0">
                <a:latin typeface="Aptos" panose="020B0004020202020204" pitchFamily="34" charset="0"/>
              </a:rPr>
              <a:t>, </a:t>
            </a:r>
            <a:r>
              <a:rPr lang="en-IN" sz="2600" dirty="0" err="1">
                <a:latin typeface="Aptos" panose="020B0004020202020204" pitchFamily="34" charset="0"/>
              </a:rPr>
              <a:t>Room_ID</a:t>
            </a:r>
            <a:r>
              <a:rPr lang="en-IN" sz="2600" dirty="0">
                <a:latin typeface="Aptos" panose="020B0004020202020204" pitchFamily="34" charset="0"/>
              </a:rPr>
              <a:t>, Dates </a:t>
            </a:r>
          </a:p>
          <a:p>
            <a:pPr marL="342900" lvl="0" indent="-342900">
              <a:buFont typeface="Courier New" panose="02070309020205020404" pitchFamily="49" charset="0"/>
              <a:buChar char="o"/>
            </a:pPr>
            <a:r>
              <a:rPr lang="en-IN" sz="2600" dirty="0">
                <a:latin typeface="Aptos" panose="020B0004020202020204" pitchFamily="34" charset="0"/>
              </a:rPr>
              <a:t>Treatment – </a:t>
            </a:r>
            <a:r>
              <a:rPr lang="en-IN" sz="2600" dirty="0" err="1">
                <a:latin typeface="Aptos" panose="020B0004020202020204" pitchFamily="34" charset="0"/>
              </a:rPr>
              <a:t>Treatment_ID</a:t>
            </a:r>
            <a:r>
              <a:rPr lang="en-IN" sz="2600" dirty="0">
                <a:latin typeface="Aptos" panose="020B0004020202020204" pitchFamily="34" charset="0"/>
              </a:rPr>
              <a:t>, </a:t>
            </a:r>
            <a:r>
              <a:rPr lang="en-IN" sz="2600" dirty="0" err="1">
                <a:latin typeface="Aptos" panose="020B0004020202020204" pitchFamily="34" charset="0"/>
              </a:rPr>
              <a:t>Patient_ID</a:t>
            </a:r>
            <a:r>
              <a:rPr lang="en-IN" sz="2600" dirty="0">
                <a:latin typeface="Aptos" panose="020B0004020202020204" pitchFamily="34" charset="0"/>
              </a:rPr>
              <a:t>, </a:t>
            </a:r>
            <a:r>
              <a:rPr lang="en-IN" sz="2600" dirty="0" err="1">
                <a:latin typeface="Aptos" panose="020B0004020202020204" pitchFamily="34" charset="0"/>
              </a:rPr>
              <a:t>Doctor_ID</a:t>
            </a:r>
            <a:r>
              <a:rPr lang="en-IN" sz="2600" dirty="0">
                <a:latin typeface="Aptos" panose="020B0004020202020204" pitchFamily="34" charset="0"/>
              </a:rPr>
              <a:t>, Diagnosis </a:t>
            </a:r>
          </a:p>
          <a:p>
            <a:pPr marL="342900" lvl="0" indent="-342900">
              <a:buFont typeface="Courier New" panose="02070309020205020404" pitchFamily="49" charset="0"/>
              <a:buChar char="o"/>
            </a:pPr>
            <a:r>
              <a:rPr lang="en-IN" sz="2600" dirty="0">
                <a:latin typeface="Aptos" panose="020B0004020202020204" pitchFamily="34" charset="0"/>
              </a:rPr>
              <a:t>Billing – </a:t>
            </a:r>
            <a:r>
              <a:rPr lang="en-IN" sz="2600" dirty="0" err="1">
                <a:latin typeface="Aptos" panose="020B0004020202020204" pitchFamily="34" charset="0"/>
              </a:rPr>
              <a:t>Bill_ID</a:t>
            </a:r>
            <a:r>
              <a:rPr lang="en-IN" sz="2600" dirty="0">
                <a:latin typeface="Aptos" panose="020B0004020202020204" pitchFamily="34" charset="0"/>
              </a:rPr>
              <a:t>, </a:t>
            </a:r>
            <a:r>
              <a:rPr lang="en-IN" sz="2600" dirty="0" err="1">
                <a:latin typeface="Aptos" panose="020B0004020202020204" pitchFamily="34" charset="0"/>
              </a:rPr>
              <a:t>Patient_ID</a:t>
            </a:r>
            <a:r>
              <a:rPr lang="en-IN" sz="2600" dirty="0">
                <a:latin typeface="Aptos" panose="020B0004020202020204" pitchFamily="34" charset="0"/>
              </a:rPr>
              <a:t>, Amount, </a:t>
            </a:r>
            <a:r>
              <a:rPr lang="en-IN" sz="2600" dirty="0" err="1">
                <a:latin typeface="Aptos" panose="020B0004020202020204" pitchFamily="34" charset="0"/>
              </a:rPr>
              <a:t>Payment_Status</a:t>
            </a:r>
            <a:r>
              <a:rPr lang="en-IN" sz="2600" dirty="0">
                <a:latin typeface="Aptos" panose="020B0004020202020204" pitchFamily="34" charset="0"/>
              </a:rPr>
              <a:t> </a:t>
            </a:r>
          </a:p>
          <a:p>
            <a:pPr marL="342900" lvl="0" indent="-342900">
              <a:buFont typeface="Courier New" panose="02070309020205020404" pitchFamily="49" charset="0"/>
              <a:buChar char="o"/>
            </a:pPr>
            <a:r>
              <a:rPr lang="en-IN" sz="2600" dirty="0">
                <a:latin typeface="Aptos" panose="020B0004020202020204" pitchFamily="34" charset="0"/>
              </a:rPr>
              <a:t>Medicine – </a:t>
            </a:r>
            <a:r>
              <a:rPr lang="en-IN" sz="2600" dirty="0" err="1">
                <a:latin typeface="Aptos" panose="020B0004020202020204" pitchFamily="34" charset="0"/>
              </a:rPr>
              <a:t>Medicine_ID</a:t>
            </a:r>
            <a:r>
              <a:rPr lang="en-IN" sz="2600" dirty="0">
                <a:latin typeface="Aptos" panose="020B0004020202020204" pitchFamily="34" charset="0"/>
              </a:rPr>
              <a:t>, Name, Category, Price, Stock 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FF62A-28CD-1AF0-FCC9-9795D9913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A882BD3-FCF2-C56E-AAE2-C4D14D585E66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3CC86148-DFF8-3451-7947-2685EE95BD9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A4DF9EE2-487D-D75F-149C-A5A989F91BE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1618242D-8DDA-301B-EF8C-793435D7B312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8669F432-648C-72A6-EE1E-52C40A5BB68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1D43B590-5504-6B74-CBB0-60480CB4BBC8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82876794-728A-676B-5B3B-0E4A8320CD7E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75FAEAFE-5DA8-E3CC-E08A-02ABAA5C5423}"/>
              </a:ext>
            </a:extLst>
          </p:cNvPr>
          <p:cNvSpPr txBox="1"/>
          <p:nvPr/>
        </p:nvSpPr>
        <p:spPr>
          <a:xfrm>
            <a:off x="2895600" y="304800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Sitka Text" pitchFamily="2" charset="0"/>
                <a:cs typeface="Times New Roman" panose="02020603050405020304" pitchFamily="18" charset="0"/>
              </a:rPr>
              <a:t> RELATIONAL</a:t>
            </a:r>
            <a:r>
              <a:rPr lang="en-IN" sz="2000" dirty="0">
                <a:latin typeface="Sitka Text" pitchFamily="2" charset="0"/>
              </a:rPr>
              <a:t> </a:t>
            </a:r>
            <a:r>
              <a:rPr lang="en-IN" sz="1950" b="1" dirty="0">
                <a:solidFill>
                  <a:schemeClr val="bg1"/>
                </a:solidFill>
                <a:latin typeface="Sitka Text" pitchFamily="2" charset="0"/>
                <a:cs typeface="Times New Roman" panose="02020603050405020304" pitchFamily="18" charset="0"/>
              </a:rPr>
              <a:t>DATABASE</a:t>
            </a:r>
            <a:r>
              <a:rPr lang="en-IN" sz="2000" dirty="0">
                <a:latin typeface="Sitka Text" pitchFamily="2" charset="0"/>
              </a:rPr>
              <a:t> </a:t>
            </a:r>
            <a:r>
              <a:rPr lang="en-IN" sz="1950" b="1" dirty="0">
                <a:solidFill>
                  <a:schemeClr val="bg1"/>
                </a:solidFill>
                <a:latin typeface="Sitka Text" pitchFamily="2" charset="0"/>
                <a:cs typeface="Times New Roman" panose="02020603050405020304" pitchFamily="18" charset="0"/>
              </a:rPr>
              <a:t>SCHEMA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895DB9-015F-1A5A-C9C5-048003F057DB}"/>
              </a:ext>
            </a:extLst>
          </p:cNvPr>
          <p:cNvSpPr txBox="1"/>
          <p:nvPr/>
        </p:nvSpPr>
        <p:spPr>
          <a:xfrm>
            <a:off x="152400" y="885411"/>
            <a:ext cx="9601200" cy="7186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00" dirty="0"/>
              <a:t>Based on your </a:t>
            </a:r>
            <a:r>
              <a:rPr lang="en-IN" sz="1900" b="1" dirty="0"/>
              <a:t>Hospital Management System</a:t>
            </a:r>
            <a:r>
              <a:rPr lang="en-IN" sz="1900" dirty="0"/>
              <a:t>, use the following schema:</a:t>
            </a:r>
          </a:p>
          <a:p>
            <a:pPr lvl="0"/>
            <a:r>
              <a:rPr lang="en-IN" sz="1900" b="1" dirty="0"/>
              <a:t>PATIENT</a:t>
            </a:r>
            <a:br>
              <a:rPr lang="en-IN" sz="1900" dirty="0"/>
            </a:br>
            <a:r>
              <a:rPr lang="en-IN" sz="1900" dirty="0"/>
              <a:t>PATIENT(</a:t>
            </a:r>
            <a:r>
              <a:rPr lang="en-IN" sz="1900" dirty="0" err="1"/>
              <a:t>Patient_ID</a:t>
            </a:r>
            <a:r>
              <a:rPr lang="en-IN" sz="1900" dirty="0"/>
              <a:t> PK, </a:t>
            </a:r>
            <a:r>
              <a:rPr lang="en-IN" sz="1900" dirty="0" err="1"/>
              <a:t>First_Name</a:t>
            </a:r>
            <a:r>
              <a:rPr lang="en-IN" sz="1900" dirty="0"/>
              <a:t>, </a:t>
            </a:r>
            <a:r>
              <a:rPr lang="en-IN" sz="1900" dirty="0" err="1"/>
              <a:t>Last_Name</a:t>
            </a:r>
            <a:r>
              <a:rPr lang="en-IN" sz="1900" dirty="0"/>
              <a:t>, Gender, </a:t>
            </a:r>
            <a:r>
              <a:rPr lang="en-IN" sz="1900" dirty="0" err="1"/>
              <a:t>Date_of_Birth</a:t>
            </a:r>
            <a:r>
              <a:rPr lang="en-IN" sz="1900" dirty="0"/>
              <a:t>, Phone, Address) </a:t>
            </a:r>
          </a:p>
          <a:p>
            <a:pPr lvl="0"/>
            <a:r>
              <a:rPr lang="en-IN" sz="1900" b="1" dirty="0"/>
              <a:t>DEPARTMENT</a:t>
            </a:r>
            <a:br>
              <a:rPr lang="en-IN" sz="1900" dirty="0"/>
            </a:br>
            <a:r>
              <a:rPr lang="en-IN" sz="1900" dirty="0"/>
              <a:t>DEPARTMENT(</a:t>
            </a:r>
            <a:r>
              <a:rPr lang="en-IN" sz="1900" dirty="0" err="1"/>
              <a:t>Department_ID</a:t>
            </a:r>
            <a:r>
              <a:rPr lang="en-IN" sz="1900" dirty="0"/>
              <a:t> PK, </a:t>
            </a:r>
            <a:r>
              <a:rPr lang="en-IN" sz="1900" dirty="0" err="1"/>
              <a:t>Department_Name</a:t>
            </a:r>
            <a:r>
              <a:rPr lang="en-IN" sz="1900" dirty="0"/>
              <a:t>, Location, </a:t>
            </a:r>
            <a:r>
              <a:rPr lang="en-IN" sz="1900" dirty="0" err="1"/>
              <a:t>Contact_No</a:t>
            </a:r>
            <a:r>
              <a:rPr lang="en-IN" sz="1900" dirty="0"/>
              <a:t>) </a:t>
            </a:r>
          </a:p>
          <a:p>
            <a:pPr lvl="0"/>
            <a:r>
              <a:rPr lang="en-IN" sz="1900" b="1" dirty="0"/>
              <a:t>DOCTOR</a:t>
            </a:r>
            <a:br>
              <a:rPr lang="en-IN" sz="1900" dirty="0"/>
            </a:br>
            <a:r>
              <a:rPr lang="en-IN" sz="1900" dirty="0"/>
              <a:t>DOCTOR(</a:t>
            </a:r>
            <a:r>
              <a:rPr lang="en-IN" sz="1900" dirty="0" err="1"/>
              <a:t>Doctor_ID</a:t>
            </a:r>
            <a:r>
              <a:rPr lang="en-IN" sz="1900" dirty="0"/>
              <a:t> PK, </a:t>
            </a:r>
            <a:r>
              <a:rPr lang="en-IN" sz="1900" dirty="0" err="1"/>
              <a:t>Doctor_Name</a:t>
            </a:r>
            <a:r>
              <a:rPr lang="en-IN" sz="1900" dirty="0"/>
              <a:t>, Specialization, Phone, Email, </a:t>
            </a:r>
            <a:r>
              <a:rPr lang="en-IN" sz="1900" dirty="0" err="1"/>
              <a:t>Department_ID</a:t>
            </a:r>
            <a:r>
              <a:rPr lang="en-IN" sz="1900" dirty="0"/>
              <a:t> FK) </a:t>
            </a:r>
          </a:p>
          <a:p>
            <a:pPr lvl="0"/>
            <a:r>
              <a:rPr lang="en-IN" sz="1900" b="1" dirty="0"/>
              <a:t>APPOINTMENT</a:t>
            </a:r>
            <a:br>
              <a:rPr lang="en-IN" sz="1900" dirty="0"/>
            </a:br>
            <a:r>
              <a:rPr lang="en-IN" sz="1900" dirty="0"/>
              <a:t>APPOINTMENT(</a:t>
            </a:r>
            <a:r>
              <a:rPr lang="en-IN" sz="1900" dirty="0" err="1"/>
              <a:t>Appointment_ID</a:t>
            </a:r>
            <a:r>
              <a:rPr lang="en-IN" sz="1900" dirty="0"/>
              <a:t> PK, </a:t>
            </a:r>
            <a:r>
              <a:rPr lang="en-IN" sz="1900" dirty="0" err="1"/>
              <a:t>Patient_ID</a:t>
            </a:r>
            <a:r>
              <a:rPr lang="en-IN" sz="1900" dirty="0"/>
              <a:t> FK, </a:t>
            </a:r>
            <a:r>
              <a:rPr lang="en-IN" sz="1900" dirty="0" err="1"/>
              <a:t>Doctor_ID</a:t>
            </a:r>
            <a:r>
              <a:rPr lang="en-IN" sz="1900" dirty="0"/>
              <a:t> FK, </a:t>
            </a:r>
            <a:r>
              <a:rPr lang="en-IN" sz="1900" dirty="0" err="1"/>
              <a:t>Appointment_Date</a:t>
            </a:r>
            <a:r>
              <a:rPr lang="en-IN" sz="1900" dirty="0"/>
              <a:t>, </a:t>
            </a:r>
            <a:r>
              <a:rPr lang="en-IN" sz="1900" dirty="0" err="1"/>
              <a:t>Appointment_Time</a:t>
            </a:r>
            <a:r>
              <a:rPr lang="en-IN" sz="1900" dirty="0"/>
              <a:t>, Status) </a:t>
            </a:r>
          </a:p>
          <a:p>
            <a:pPr lvl="0"/>
            <a:r>
              <a:rPr lang="en-IN" sz="1900" b="1" dirty="0"/>
              <a:t>ADMISSION</a:t>
            </a:r>
            <a:br>
              <a:rPr lang="en-IN" sz="1900" dirty="0"/>
            </a:br>
            <a:r>
              <a:rPr lang="en-IN" sz="1900" dirty="0"/>
              <a:t>ADMISSION(</a:t>
            </a:r>
            <a:r>
              <a:rPr lang="en-IN" sz="1900" dirty="0" err="1"/>
              <a:t>Admission_ID</a:t>
            </a:r>
            <a:r>
              <a:rPr lang="en-IN" sz="1900" dirty="0"/>
              <a:t> PK, </a:t>
            </a:r>
            <a:r>
              <a:rPr lang="en-IN" sz="1900" dirty="0" err="1"/>
              <a:t>Patient_ID</a:t>
            </a:r>
            <a:r>
              <a:rPr lang="en-IN" sz="1900" dirty="0"/>
              <a:t> FK, </a:t>
            </a:r>
            <a:r>
              <a:rPr lang="en-IN" sz="1900" dirty="0" err="1"/>
              <a:t>Room_ID</a:t>
            </a:r>
            <a:r>
              <a:rPr lang="en-IN" sz="1900" dirty="0"/>
              <a:t> FK, </a:t>
            </a:r>
            <a:r>
              <a:rPr lang="en-IN" sz="1900" dirty="0" err="1"/>
              <a:t>Admission_Date</a:t>
            </a:r>
            <a:r>
              <a:rPr lang="en-IN" sz="1900" dirty="0"/>
              <a:t>, </a:t>
            </a:r>
            <a:r>
              <a:rPr lang="en-IN" sz="1900" dirty="0" err="1"/>
              <a:t>Discharge_Date</a:t>
            </a:r>
            <a:r>
              <a:rPr lang="en-IN" sz="1900" dirty="0"/>
              <a:t>) </a:t>
            </a:r>
          </a:p>
          <a:p>
            <a:pPr lvl="0"/>
            <a:r>
              <a:rPr lang="en-IN" sz="1900" b="1" dirty="0"/>
              <a:t>TREATMENT</a:t>
            </a:r>
            <a:br>
              <a:rPr lang="en-IN" sz="1900" dirty="0"/>
            </a:br>
            <a:r>
              <a:rPr lang="en-IN" sz="1900" dirty="0"/>
              <a:t>TREATMENT(</a:t>
            </a:r>
            <a:r>
              <a:rPr lang="en-IN" sz="1900" dirty="0" err="1"/>
              <a:t>Treatment_ID</a:t>
            </a:r>
            <a:r>
              <a:rPr lang="en-IN" sz="1900" dirty="0"/>
              <a:t> PK, </a:t>
            </a:r>
            <a:r>
              <a:rPr lang="en-IN" sz="1900" dirty="0" err="1"/>
              <a:t>Patient_ID</a:t>
            </a:r>
            <a:r>
              <a:rPr lang="en-IN" sz="1900" dirty="0"/>
              <a:t> FK, </a:t>
            </a:r>
            <a:r>
              <a:rPr lang="en-IN" sz="1900" dirty="0" err="1"/>
              <a:t>Doctor_ID</a:t>
            </a:r>
            <a:r>
              <a:rPr lang="en-IN" sz="1900" dirty="0"/>
              <a:t> FK, Diagnosis) </a:t>
            </a:r>
          </a:p>
          <a:p>
            <a:pPr lvl="0"/>
            <a:r>
              <a:rPr lang="en-IN" sz="1900" b="1" dirty="0"/>
              <a:t>BILLING</a:t>
            </a:r>
            <a:br>
              <a:rPr lang="en-IN" sz="1900" dirty="0"/>
            </a:br>
            <a:r>
              <a:rPr lang="en-IN" sz="1900" dirty="0"/>
              <a:t>BILLING(</a:t>
            </a:r>
            <a:r>
              <a:rPr lang="en-IN" sz="1900" dirty="0" err="1"/>
              <a:t>Bill_ID</a:t>
            </a:r>
            <a:r>
              <a:rPr lang="en-IN" sz="1900" dirty="0"/>
              <a:t> PK, </a:t>
            </a:r>
            <a:r>
              <a:rPr lang="en-IN" sz="1900" dirty="0" err="1"/>
              <a:t>Patient_ID</a:t>
            </a:r>
            <a:r>
              <a:rPr lang="en-IN" sz="1900" dirty="0"/>
              <a:t> FK, Amount, </a:t>
            </a:r>
            <a:r>
              <a:rPr lang="en-IN" sz="1900" dirty="0" err="1"/>
              <a:t>Payment_Status</a:t>
            </a:r>
            <a:r>
              <a:rPr lang="en-IN" sz="1900" dirty="0"/>
              <a:t>) </a:t>
            </a:r>
          </a:p>
          <a:p>
            <a:pPr lvl="0"/>
            <a:r>
              <a:rPr lang="en-IN" sz="1900" b="1" dirty="0"/>
              <a:t>MEDICINE</a:t>
            </a:r>
            <a:br>
              <a:rPr lang="en-IN" sz="1900" dirty="0"/>
            </a:br>
            <a:r>
              <a:rPr lang="en-IN" sz="1900" dirty="0"/>
              <a:t>MEDICINE(</a:t>
            </a:r>
            <a:r>
              <a:rPr lang="en-IN" sz="1900" dirty="0" err="1"/>
              <a:t>Medicine_ID</a:t>
            </a:r>
            <a:r>
              <a:rPr lang="en-IN" sz="1900" dirty="0"/>
              <a:t> PK, Name, Category, Price, Stock) </a:t>
            </a:r>
          </a:p>
          <a:p>
            <a:pPr lvl="0"/>
            <a:r>
              <a:rPr lang="en-IN" sz="1900" b="1" dirty="0"/>
              <a:t>ROOM</a:t>
            </a:r>
            <a:br>
              <a:rPr lang="en-IN" sz="1900" dirty="0"/>
            </a:br>
            <a:r>
              <a:rPr lang="en-IN" sz="1900" dirty="0"/>
              <a:t>ROOM(</a:t>
            </a:r>
            <a:r>
              <a:rPr lang="en-IN" sz="1900" dirty="0" err="1"/>
              <a:t>Room_ID</a:t>
            </a:r>
            <a:r>
              <a:rPr lang="en-IN" sz="1900" dirty="0"/>
              <a:t> PK, </a:t>
            </a:r>
            <a:r>
              <a:rPr lang="en-IN" sz="1900" dirty="0" err="1"/>
              <a:t>Room_Number</a:t>
            </a:r>
            <a:r>
              <a:rPr lang="en-IN" sz="1900" dirty="0"/>
              <a:t>, </a:t>
            </a:r>
            <a:r>
              <a:rPr lang="en-IN" sz="1900" dirty="0" err="1"/>
              <a:t>Room_Type</a:t>
            </a:r>
            <a:r>
              <a:rPr lang="en-IN" sz="1900" dirty="0"/>
              <a:t>, </a:t>
            </a:r>
            <a:r>
              <a:rPr lang="en-IN" sz="1900" dirty="0" err="1"/>
              <a:t>Availability_Status</a:t>
            </a:r>
            <a:r>
              <a:rPr lang="en-IN" sz="1900" dirty="0"/>
              <a:t>)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31782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27A3C-9BEC-C61B-FC8D-3B949CD89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15F0E8CC-BDB8-7C3E-7C5E-012FD1252950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DBC28A04-FC65-6F36-8766-2B93E376E26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6F9D794-31EA-8ABA-A5E3-D49E7DEF13C2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E0767A3E-73A4-9967-916C-59851FE931A3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5C64E3F9-2AFD-ACC7-6183-250AF43BDF58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01E94C25-6779-8458-E95E-F4782347F2B3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D4973351-D6E2-D3B8-C7AF-9344AB18D3A7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50DE1838-629A-37A8-DB28-E5CABD39B264}"/>
              </a:ext>
            </a:extLst>
          </p:cNvPr>
          <p:cNvSpPr txBox="1"/>
          <p:nvPr/>
        </p:nvSpPr>
        <p:spPr>
          <a:xfrm>
            <a:off x="4191000" y="321324"/>
            <a:ext cx="5029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Sitka Text" pitchFamily="2" charset="0"/>
                <a:cs typeface="Times New Roman" panose="02020603050405020304" pitchFamily="18" charset="0"/>
              </a:rPr>
              <a:t>ER DIAGRAM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E6CA122-2AE4-AA55-B693-7DE3FC17D8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1040290"/>
            <a:ext cx="9033633" cy="6022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9739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D1103-BED3-D0D1-2B32-DF462A49A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386A48A0-7630-F33A-9602-55A8C30FABC0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4D87CA1E-4756-F08E-63BD-75124D6360A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631FFF4E-3585-C131-4111-19552BFBD0ED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23462C3B-779A-ECC8-E6A0-EBE10897D9C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1C485986-3706-6533-B03D-5A8A8566EDEA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C06018CA-58C0-7E2C-3046-85D5E75FDF5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48EE4812-0FE8-8F6E-37C0-C1D8649E38B8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C996B418-1692-861F-B2FC-D97A6A0DCECA}"/>
              </a:ext>
            </a:extLst>
          </p:cNvPr>
          <p:cNvSpPr txBox="1"/>
          <p:nvPr/>
        </p:nvSpPr>
        <p:spPr>
          <a:xfrm>
            <a:off x="3429000" y="321324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PRIMARY</a:t>
            </a:r>
            <a:r>
              <a:rPr lang="en-IN" sz="2000" dirty="0"/>
              <a:t> </a:t>
            </a: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lang="en-IN" sz="2000" dirty="0"/>
              <a:t> </a:t>
            </a: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FOREIGN</a:t>
            </a:r>
            <a:r>
              <a:rPr lang="en-IN" sz="2000" dirty="0"/>
              <a:t> </a:t>
            </a: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6E2F94-6AD4-B724-E3FB-997227B0055D}"/>
              </a:ext>
            </a:extLst>
          </p:cNvPr>
          <p:cNvSpPr txBox="1"/>
          <p:nvPr/>
        </p:nvSpPr>
        <p:spPr>
          <a:xfrm>
            <a:off x="1102474" y="1216579"/>
            <a:ext cx="8041525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Aptos" panose="020B0004020202020204" pitchFamily="34" charset="0"/>
              </a:rPr>
              <a:t>🔑 </a:t>
            </a:r>
            <a:r>
              <a:rPr lang="en-IN" sz="2400" b="1" u="sng" dirty="0">
                <a:latin typeface="Aptos" panose="020B0004020202020204" pitchFamily="34" charset="0"/>
              </a:rPr>
              <a:t>Primary Key &amp; Foreign Key</a:t>
            </a:r>
          </a:p>
          <a:p>
            <a:br>
              <a:rPr lang="en-IN" sz="2400" b="1" dirty="0">
                <a:latin typeface="Aptos" panose="020B0004020202020204" pitchFamily="34" charset="0"/>
              </a:rPr>
            </a:br>
            <a:r>
              <a:rPr lang="en-IN" sz="2400" b="1" u="sng" dirty="0">
                <a:latin typeface="Aptos" panose="020B0004020202020204" pitchFamily="34" charset="0"/>
              </a:rPr>
              <a:t>Primary Key (PK)</a:t>
            </a:r>
            <a:endParaRPr lang="en-IN" sz="2400" u="sng" dirty="0">
              <a:latin typeface="Aptos" panose="020B00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" panose="020B0004020202020204" pitchFamily="34" charset="0"/>
              </a:rPr>
              <a:t>Uniquely identifies each record.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" panose="020B0004020202020204" pitchFamily="34" charset="0"/>
              </a:rPr>
              <a:t>Example: </a:t>
            </a:r>
            <a:r>
              <a:rPr lang="en-IN" sz="2400" dirty="0" err="1">
                <a:latin typeface="Aptos" panose="020B0004020202020204" pitchFamily="34" charset="0"/>
              </a:rPr>
              <a:t>Patient_ID</a:t>
            </a:r>
            <a:r>
              <a:rPr lang="en-IN" sz="2400" dirty="0">
                <a:latin typeface="Aptos" panose="020B0004020202020204" pitchFamily="34" charset="0"/>
              </a:rPr>
              <a:t> </a:t>
            </a:r>
          </a:p>
          <a:p>
            <a:pPr lvl="0"/>
            <a:endParaRPr lang="en-IN" sz="2400" dirty="0">
              <a:latin typeface="Aptos" panose="020B0004020202020204" pitchFamily="34" charset="0"/>
            </a:endParaRPr>
          </a:p>
          <a:p>
            <a:r>
              <a:rPr lang="en-IN" sz="2400" b="1" u="sng" dirty="0">
                <a:latin typeface="Aptos" panose="020B0004020202020204" pitchFamily="34" charset="0"/>
              </a:rPr>
              <a:t>Foreign Key (FK)</a:t>
            </a:r>
            <a:endParaRPr lang="en-IN" sz="2400" u="sng" dirty="0">
              <a:latin typeface="Aptos" panose="020B00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" panose="020B0004020202020204" pitchFamily="34" charset="0"/>
              </a:rPr>
              <a:t>Connects two tables.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" panose="020B0004020202020204" pitchFamily="34" charset="0"/>
              </a:rPr>
              <a:t>Refers to the Primary Key of another table.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" panose="020B0004020202020204" pitchFamily="34" charset="0"/>
              </a:rPr>
              <a:t>Example: </a:t>
            </a:r>
            <a:r>
              <a:rPr lang="en-IN" sz="2400" dirty="0" err="1">
                <a:latin typeface="Aptos" panose="020B0004020202020204" pitchFamily="34" charset="0"/>
              </a:rPr>
              <a:t>Department_ID</a:t>
            </a:r>
            <a:r>
              <a:rPr lang="en-IN" sz="2400" dirty="0">
                <a:latin typeface="Aptos" panose="020B0004020202020204" pitchFamily="34" charset="0"/>
              </a:rPr>
              <a:t> in Doctor table.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Aptos" panose="020B0004020202020204" pitchFamily="34" charset="0"/>
              </a:rPr>
              <a:t>Example Relationship:</a:t>
            </a:r>
            <a:br>
              <a:rPr lang="en-IN" sz="2400" dirty="0">
                <a:latin typeface="Aptos" panose="020B0004020202020204" pitchFamily="34" charset="0"/>
              </a:rPr>
            </a:br>
            <a:r>
              <a:rPr lang="en-IN" sz="2400" dirty="0" err="1">
                <a:latin typeface="Aptos" panose="020B0004020202020204" pitchFamily="34" charset="0"/>
              </a:rPr>
              <a:t>Doctor.Department_ID</a:t>
            </a:r>
            <a:r>
              <a:rPr lang="en-IN" sz="2400" dirty="0">
                <a:latin typeface="Aptos" panose="020B0004020202020204" pitchFamily="34" charset="0"/>
              </a:rPr>
              <a:t> → </a:t>
            </a:r>
            <a:r>
              <a:rPr lang="en-IN" sz="2400" dirty="0" err="1">
                <a:latin typeface="Aptos" panose="020B0004020202020204" pitchFamily="34" charset="0"/>
              </a:rPr>
              <a:t>Department.Department_ID</a:t>
            </a:r>
            <a:endParaRPr lang="en-IN" sz="2400" dirty="0">
              <a:latin typeface="Aptos" panose="020B0004020202020204" pitchFamily="34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01857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REPOSITORY &amp; TEAM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800D15-2389-5516-DA9E-AC441973A9C8}"/>
              </a:ext>
            </a:extLst>
          </p:cNvPr>
          <p:cNvSpPr txBox="1"/>
          <p:nvPr/>
        </p:nvSpPr>
        <p:spPr>
          <a:xfrm>
            <a:off x="467557" y="1041219"/>
            <a:ext cx="9186149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Aptos" panose="020B0004020202020204" pitchFamily="34" charset="0"/>
              </a:rPr>
              <a:t>     </a:t>
            </a:r>
            <a:r>
              <a:rPr lang="en-IN" sz="2400" b="1" u="sng" dirty="0">
                <a:latin typeface="Aptos" panose="020B0004020202020204" pitchFamily="34" charset="0"/>
              </a:rPr>
              <a:t>GitHub Repository Contains </a:t>
            </a:r>
            <a:r>
              <a:rPr lang="en-IN" sz="2400" b="1" dirty="0">
                <a:latin typeface="Aptos" panose="020B0004020202020204" pitchFamily="34" charset="0"/>
              </a:rPr>
              <a:t>:</a:t>
            </a:r>
            <a:endParaRPr lang="en-IN" sz="2400" dirty="0">
              <a:latin typeface="Aptos" panose="020B00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" panose="020B0004020202020204" pitchFamily="34" charset="0"/>
              </a:rPr>
              <a:t>SQL source file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" panose="020B0004020202020204" pitchFamily="34" charset="0"/>
              </a:rPr>
              <a:t>Database queries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" panose="020B0004020202020204" pitchFamily="34" charset="0"/>
              </a:rPr>
              <a:t>ER diagram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" panose="020B0004020202020204" pitchFamily="34" charset="0"/>
              </a:rPr>
              <a:t>Project documentation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" panose="020B0004020202020204" pitchFamily="34" charset="0"/>
              </a:rPr>
              <a:t>Screenshots / project resources</a:t>
            </a:r>
            <a:br>
              <a:rPr lang="en-IN" sz="2400" dirty="0">
                <a:latin typeface="Aptos" panose="020B0004020202020204" pitchFamily="34" charset="0"/>
              </a:rPr>
            </a:br>
            <a:br>
              <a:rPr lang="en-IN" sz="2400" dirty="0">
                <a:latin typeface="Aptos" panose="020B0004020202020204" pitchFamily="34" charset="0"/>
              </a:rPr>
            </a:br>
            <a:r>
              <a:rPr lang="en-IN" sz="2400" b="1" u="sng" dirty="0">
                <a:latin typeface="Aptos" panose="020B0004020202020204" pitchFamily="34" charset="0"/>
              </a:rPr>
              <a:t>Team Responsibilities</a:t>
            </a:r>
            <a:r>
              <a:rPr lang="en-IN" sz="2400" b="1" dirty="0">
                <a:latin typeface="Aptos" panose="020B0004020202020204" pitchFamily="34" charset="0"/>
              </a:rPr>
              <a:t> 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" panose="020B0004020202020204" pitchFamily="34" charset="0"/>
              </a:rPr>
              <a:t>Database design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" panose="020B0004020202020204" pitchFamily="34" charset="0"/>
              </a:rPr>
              <a:t>SQL implementation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" panose="020B0004020202020204" pitchFamily="34" charset="0"/>
              </a:rPr>
              <a:t>ER diagram and schema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" panose="020B0004020202020204" pitchFamily="34" charset="0"/>
              </a:rPr>
              <a:t>Documentation and presentation</a:t>
            </a:r>
          </a:p>
          <a:p>
            <a:pPr lvl="0"/>
            <a:br>
              <a:rPr lang="en-IN" sz="2400" dirty="0">
                <a:latin typeface="Aptos" panose="020B0004020202020204" pitchFamily="34" charset="0"/>
              </a:rPr>
            </a:br>
            <a:r>
              <a:rPr lang="en-IN" sz="2400" b="1" u="sng" dirty="0">
                <a:latin typeface="Aptos" panose="020B0004020202020204" pitchFamily="34" charset="0"/>
              </a:rPr>
              <a:t>Repository </a:t>
            </a:r>
            <a:r>
              <a:rPr lang="en-IN" sz="2400" b="1" dirty="0">
                <a:latin typeface="Aptos" panose="020B0004020202020204" pitchFamily="34" charset="0"/>
              </a:rPr>
              <a:t>:</a:t>
            </a:r>
            <a:br>
              <a:rPr lang="en-IN" sz="2400" b="1" dirty="0">
                <a:latin typeface="Aptos" panose="020B0004020202020204" pitchFamily="34" charset="0"/>
              </a:rPr>
            </a:br>
            <a:r>
              <a:rPr lang="en-IN" sz="2400" dirty="0">
                <a:latin typeface="Aptos" panose="020B0004020202020204" pitchFamily="34" charset="0"/>
              </a:rPr>
              <a:t>https://github.com/ybsrilekha-1408/Hospital-Management-System</a:t>
            </a:r>
            <a:br>
              <a:rPr lang="en-IN" sz="2400" dirty="0">
                <a:latin typeface="Aptos" panose="020B0004020202020204" pitchFamily="34" charset="0"/>
              </a:rPr>
            </a:br>
            <a:endParaRPr lang="en-IN" sz="24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&amp; CONSTRAINTS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800D15-2389-5516-DA9E-AC441973A9C8}"/>
              </a:ext>
            </a:extLst>
          </p:cNvPr>
          <p:cNvSpPr txBox="1"/>
          <p:nvPr/>
        </p:nvSpPr>
        <p:spPr>
          <a:xfrm>
            <a:off x="1277022" y="1748436"/>
            <a:ext cx="81534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u="sng" dirty="0">
                <a:latin typeface="Aptos" panose="020B0004020202020204" pitchFamily="34" charset="0"/>
              </a:rPr>
              <a:t>DATABASE &amp; CONSTRAINTS</a:t>
            </a:r>
          </a:p>
          <a:p>
            <a:endParaRPr lang="en-IN" sz="2400" b="1" u="sng" dirty="0">
              <a:latin typeface="Aptos" panose="020B00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" panose="020B0004020202020204" pitchFamily="34" charset="0"/>
              </a:rPr>
              <a:t>Created the database tables in </a:t>
            </a:r>
            <a:r>
              <a:rPr lang="en-IN" sz="2400" b="1" dirty="0">
                <a:latin typeface="Aptos" panose="020B0004020202020204" pitchFamily="34" charset="0"/>
              </a:rPr>
              <a:t>Oracle Database</a:t>
            </a:r>
            <a:r>
              <a:rPr lang="en-IN" sz="2400" dirty="0">
                <a:latin typeface="Aptos" panose="020B0004020202020204" pitchFamily="34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" panose="020B0004020202020204" pitchFamily="34" charset="0"/>
              </a:rPr>
              <a:t>Used </a:t>
            </a:r>
            <a:r>
              <a:rPr lang="en-IN" sz="2400" b="1" dirty="0">
                <a:latin typeface="Aptos" panose="020B0004020202020204" pitchFamily="34" charset="0"/>
              </a:rPr>
              <a:t>Oracle SQL*Plus / Run SQL Command Line</a:t>
            </a:r>
            <a:r>
              <a:rPr lang="en-IN" sz="2400" dirty="0">
                <a:latin typeface="Aptos" panose="020B0004020202020204" pitchFamily="34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" panose="020B0004020202020204" pitchFamily="34" charset="0"/>
              </a:rPr>
              <a:t>Defined Primary Keys and Foreign Keys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" panose="020B0004020202020204" pitchFamily="34" charset="0"/>
              </a:rPr>
              <a:t>Used NOT NULL constraints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" panose="020B0004020202020204" pitchFamily="34" charset="0"/>
              </a:rPr>
              <a:t>Maintained data integrity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" panose="020B0004020202020204" pitchFamily="34" charset="0"/>
              </a:rPr>
              <a:t>Established relationships between related tables</a:t>
            </a:r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 DATA INSERTION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800D15-2389-5516-DA9E-AC441973A9C8}"/>
              </a:ext>
            </a:extLst>
          </p:cNvPr>
          <p:cNvSpPr txBox="1"/>
          <p:nvPr/>
        </p:nvSpPr>
        <p:spPr>
          <a:xfrm>
            <a:off x="1143000" y="1251890"/>
            <a:ext cx="67818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u="sng" dirty="0">
                <a:latin typeface="Aptos" panose="020B0004020202020204" pitchFamily="34" charset="0"/>
              </a:rPr>
              <a:t>SAMPLE DATA INSERTION :</a:t>
            </a:r>
          </a:p>
          <a:p>
            <a:r>
              <a:rPr lang="en-IN" sz="2400" dirty="0">
                <a:latin typeface="Aptos" panose="020B0004020202020204" pitchFamily="34" charset="0"/>
              </a:rPr>
              <a:t>Sample records were inserted into the hospital tables.</a:t>
            </a:r>
          </a:p>
          <a:p>
            <a:endParaRPr lang="en-IN" sz="2400" dirty="0">
              <a:latin typeface="Aptos" panose="020B0004020202020204" pitchFamily="34" charset="0"/>
            </a:endParaRPr>
          </a:p>
          <a:p>
            <a:r>
              <a:rPr lang="en-IN" sz="2400" b="1" u="sng" dirty="0">
                <a:latin typeface="Aptos" panose="020B0004020202020204" pitchFamily="34" charset="0"/>
              </a:rPr>
              <a:t>Sample data includes</a:t>
            </a:r>
            <a:r>
              <a:rPr lang="en-IN" sz="2400" b="1" dirty="0">
                <a:latin typeface="Aptos" panose="020B0004020202020204" pitchFamily="34" charset="0"/>
              </a:rPr>
              <a:t>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" panose="020B0004020202020204" pitchFamily="34" charset="0"/>
              </a:rPr>
              <a:t>Patient records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" panose="020B0004020202020204" pitchFamily="34" charset="0"/>
              </a:rPr>
              <a:t>Doctor records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" panose="020B0004020202020204" pitchFamily="34" charset="0"/>
              </a:rPr>
              <a:t>Department records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" panose="020B0004020202020204" pitchFamily="34" charset="0"/>
              </a:rPr>
              <a:t>Appointment records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" panose="020B0004020202020204" pitchFamily="34" charset="0"/>
              </a:rPr>
              <a:t>Admission records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" panose="020B0004020202020204" pitchFamily="34" charset="0"/>
              </a:rPr>
              <a:t>Treatment records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" panose="020B0004020202020204" pitchFamily="34" charset="0"/>
              </a:rPr>
              <a:t>Billing records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" panose="020B0004020202020204" pitchFamily="34" charset="0"/>
              </a:rPr>
              <a:t>Medicine records </a:t>
            </a:r>
          </a:p>
          <a:p>
            <a:r>
              <a:rPr lang="en-IN" sz="2400" dirty="0">
                <a:latin typeface="Aptos" panose="020B0004020202020204" pitchFamily="34" charset="0"/>
              </a:rPr>
              <a:t>Total project tables: 8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DDL, DML &amp; DQL OPERATIONS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800D15-2389-5516-DA9E-AC441973A9C8}"/>
              </a:ext>
            </a:extLst>
          </p:cNvPr>
          <p:cNvSpPr txBox="1"/>
          <p:nvPr/>
        </p:nvSpPr>
        <p:spPr>
          <a:xfrm>
            <a:off x="1447800" y="1216578"/>
            <a:ext cx="6781800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u="sng" dirty="0">
                <a:latin typeface="Aptos" panose="020B0004020202020204" pitchFamily="34" charset="0"/>
              </a:rPr>
              <a:t>SQL OPERATIONS :</a:t>
            </a:r>
          </a:p>
          <a:p>
            <a:endParaRPr lang="en-IN" sz="2400" b="1" u="sng" dirty="0">
              <a:latin typeface="Aptos" panose="020B0004020202020204" pitchFamily="34" charset="0"/>
            </a:endParaRPr>
          </a:p>
          <a:p>
            <a:r>
              <a:rPr lang="en-IN" sz="2400" b="1" dirty="0">
                <a:latin typeface="Aptos" panose="020B0004020202020204" pitchFamily="34" charset="0"/>
              </a:rPr>
              <a:t>DDL </a:t>
            </a:r>
            <a:r>
              <a:rPr lang="en-IN" sz="2400" dirty="0">
                <a:latin typeface="Aptos" panose="020B0004020202020204" pitchFamily="34" charset="0"/>
              </a:rPr>
              <a:t>– Data Definition Language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" panose="020B0004020202020204" pitchFamily="34" charset="0"/>
              </a:rPr>
              <a:t>CREATE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" panose="020B0004020202020204" pitchFamily="34" charset="0"/>
              </a:rPr>
              <a:t>ALTER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400" dirty="0">
              <a:latin typeface="Aptos" panose="020B0004020202020204" pitchFamily="34" charset="0"/>
            </a:endParaRPr>
          </a:p>
          <a:p>
            <a:r>
              <a:rPr lang="en-IN" sz="2400" b="1" dirty="0">
                <a:latin typeface="Aptos" panose="020B0004020202020204" pitchFamily="34" charset="0"/>
              </a:rPr>
              <a:t>DML </a:t>
            </a:r>
            <a:r>
              <a:rPr lang="en-IN" sz="2400" dirty="0">
                <a:latin typeface="Aptos" panose="020B0004020202020204" pitchFamily="34" charset="0"/>
              </a:rPr>
              <a:t>– Data Manipulation Language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" panose="020B0004020202020204" pitchFamily="34" charset="0"/>
              </a:rPr>
              <a:t>INSERT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" panose="020B0004020202020204" pitchFamily="34" charset="0"/>
              </a:rPr>
              <a:t>UPDATE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" panose="020B0004020202020204" pitchFamily="34" charset="0"/>
              </a:rPr>
              <a:t>DELETE</a:t>
            </a:r>
          </a:p>
          <a:p>
            <a:pPr lvl="0"/>
            <a:r>
              <a:rPr lang="en-IN" sz="2400" dirty="0">
                <a:latin typeface="Aptos" panose="020B0004020202020204" pitchFamily="34" charset="0"/>
              </a:rPr>
              <a:t> </a:t>
            </a:r>
          </a:p>
          <a:p>
            <a:r>
              <a:rPr lang="en-IN" sz="2400" b="1" dirty="0">
                <a:latin typeface="Aptos" panose="020B0004020202020204" pitchFamily="34" charset="0"/>
              </a:rPr>
              <a:t>DQL </a:t>
            </a:r>
            <a:r>
              <a:rPr lang="en-IN" sz="2400" dirty="0">
                <a:latin typeface="Aptos" panose="020B0004020202020204" pitchFamily="34" charset="0"/>
              </a:rPr>
              <a:t>– Data Query Language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" panose="020B0004020202020204" pitchFamily="34" charset="0"/>
              </a:rPr>
              <a:t>SELECT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CRUD &amp; SQL QUERIES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800D15-2389-5516-DA9E-AC441973A9C8}"/>
              </a:ext>
            </a:extLst>
          </p:cNvPr>
          <p:cNvSpPr txBox="1"/>
          <p:nvPr/>
        </p:nvSpPr>
        <p:spPr>
          <a:xfrm>
            <a:off x="1143000" y="1395018"/>
            <a:ext cx="67818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u="sng" dirty="0">
                <a:latin typeface="Aptos" panose="020B0004020202020204" pitchFamily="34" charset="0"/>
              </a:rPr>
              <a:t>CRUD OPERATIONS :</a:t>
            </a:r>
          </a:p>
          <a:p>
            <a:endParaRPr lang="en-IN" sz="2400" b="1" u="sng" dirty="0">
              <a:latin typeface="Aptos" panose="020B0004020202020204" pitchFamily="34" charset="0"/>
            </a:endParaRPr>
          </a:p>
          <a:p>
            <a:r>
              <a:rPr lang="en-IN" sz="2400" b="1" dirty="0"/>
              <a:t>C </a:t>
            </a:r>
            <a:r>
              <a:rPr lang="en-IN" sz="2400" dirty="0"/>
              <a:t>– Create → INSERT</a:t>
            </a:r>
            <a:br>
              <a:rPr lang="en-IN" sz="2400" dirty="0"/>
            </a:br>
            <a:r>
              <a:rPr lang="en-IN" sz="2400" b="1" dirty="0"/>
              <a:t>R </a:t>
            </a:r>
            <a:r>
              <a:rPr lang="en-IN" sz="2400" dirty="0"/>
              <a:t>– Read → SELECT</a:t>
            </a:r>
            <a:br>
              <a:rPr lang="en-IN" sz="2400" dirty="0"/>
            </a:br>
            <a:r>
              <a:rPr lang="en-IN" sz="2400" b="1" dirty="0"/>
              <a:t>U </a:t>
            </a:r>
            <a:r>
              <a:rPr lang="en-IN" sz="2400" dirty="0"/>
              <a:t>– Update → UPDATE</a:t>
            </a:r>
            <a:br>
              <a:rPr lang="en-IN" sz="2400" dirty="0"/>
            </a:br>
            <a:r>
              <a:rPr lang="en-IN" sz="2400" b="1" dirty="0"/>
              <a:t>D </a:t>
            </a:r>
            <a:r>
              <a:rPr lang="en-IN" sz="2400" dirty="0"/>
              <a:t>– Delete → DELETE</a:t>
            </a:r>
          </a:p>
          <a:p>
            <a:endParaRPr lang="en-IN" sz="2400" dirty="0"/>
          </a:p>
          <a:p>
            <a:r>
              <a:rPr lang="en-IN" sz="2400" b="1" u="sng" dirty="0"/>
              <a:t>Other SQL Operations :</a:t>
            </a:r>
          </a:p>
          <a:p>
            <a:endParaRPr lang="en-IN" sz="2400" b="1" u="sng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JOIN queries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Filtering using WHERE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Sorting using ORDER BY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Data retrieval from related tables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895600" y="114583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INTEGRITY &amp; VALIDATION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E9CF9A-89ED-9DDD-E6AF-5D65FFFA2704}"/>
              </a:ext>
            </a:extLst>
          </p:cNvPr>
          <p:cNvSpPr txBox="1"/>
          <p:nvPr/>
        </p:nvSpPr>
        <p:spPr>
          <a:xfrm>
            <a:off x="1676400" y="1246153"/>
            <a:ext cx="7180771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Aptos" panose="020B0004020202020204" pitchFamily="34" charset="0"/>
              </a:rPr>
              <a:t>DATA INTEGRITY &amp; VALIDATION :</a:t>
            </a:r>
          </a:p>
          <a:p>
            <a:pPr>
              <a:buNone/>
            </a:pPr>
            <a:endParaRPr lang="en-IN" sz="2400" b="1" u="sng" dirty="0">
              <a:latin typeface="Aptos" panose="020B00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" panose="020B0004020202020204" pitchFamily="34" charset="0"/>
              </a:rPr>
              <a:t>Primary Keys prevent duplicate record identification.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" panose="020B0004020202020204" pitchFamily="34" charset="0"/>
              </a:rPr>
              <a:t>Foreign Keys maintain relationships between tables.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" panose="020B0004020202020204" pitchFamily="34" charset="0"/>
              </a:rPr>
              <a:t>NOT NULL constraints ensure required fields contain values.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" panose="020B0004020202020204" pitchFamily="34" charset="0"/>
              </a:rPr>
              <a:t>Valid data is inserted according to the table structure.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" panose="020B0004020202020204" pitchFamily="34" charset="0"/>
              </a:rPr>
              <a:t>SQL queries are used to verify stored records.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" panose="020B0004020202020204" pitchFamily="34" charset="0"/>
              </a:rPr>
              <a:t>Data consistency is maintained across related tables.</a:t>
            </a:r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DOCUMENTATION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6B123D-FC54-C1ED-C523-5DD3CC317252}"/>
              </a:ext>
            </a:extLst>
          </p:cNvPr>
          <p:cNvSpPr txBox="1"/>
          <p:nvPr/>
        </p:nvSpPr>
        <p:spPr>
          <a:xfrm>
            <a:off x="2971052" y="1216578"/>
            <a:ext cx="50292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Aptos" panose="020B0004020202020204" pitchFamily="34" charset="0"/>
              </a:rPr>
              <a:t>PROJECT DOCUMENTATION :</a:t>
            </a:r>
          </a:p>
          <a:p>
            <a:pPr>
              <a:buNone/>
            </a:pPr>
            <a:endParaRPr lang="en-IN" sz="2400" b="1" u="sng" dirty="0">
              <a:latin typeface="Aptos" panose="020B0004020202020204" pitchFamily="34" charset="0"/>
            </a:endParaRPr>
          </a:p>
          <a:p>
            <a:pPr>
              <a:buNone/>
            </a:pPr>
            <a:r>
              <a:rPr lang="en-IN" sz="2400" dirty="0">
                <a:latin typeface="Aptos" panose="020B0004020202020204" pitchFamily="34" charset="0"/>
              </a:rPr>
              <a:t>The project documentation includes: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" panose="020B0004020202020204" pitchFamily="34" charset="0"/>
              </a:rPr>
              <a:t>Project Introduction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" panose="020B0004020202020204" pitchFamily="34" charset="0"/>
              </a:rPr>
              <a:t>Objectives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" panose="020B0004020202020204" pitchFamily="34" charset="0"/>
              </a:rPr>
              <a:t>Problem Statement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" panose="020B0004020202020204" pitchFamily="34" charset="0"/>
              </a:rPr>
              <a:t>Entities and Attributes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" panose="020B0004020202020204" pitchFamily="34" charset="0"/>
              </a:rPr>
              <a:t>ER Diagram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" panose="020B0004020202020204" pitchFamily="34" charset="0"/>
              </a:rPr>
              <a:t>Relational Schema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" panose="020B0004020202020204" pitchFamily="34" charset="0"/>
              </a:rPr>
              <a:t>Primary &amp; Foreign Keys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" panose="020B0004020202020204" pitchFamily="34" charset="0"/>
              </a:rPr>
              <a:t>SQL Queries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" panose="020B0004020202020204" pitchFamily="34" charset="0"/>
              </a:rPr>
              <a:t>Database Outputs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" panose="020B0004020202020204" pitchFamily="34" charset="0"/>
              </a:rPr>
              <a:t>Screenshots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" panose="020B0004020202020204" pitchFamily="34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DEMONSTRATE &amp; PRESENT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800D15-2389-5516-DA9E-AC441973A9C8}"/>
              </a:ext>
            </a:extLst>
          </p:cNvPr>
          <p:cNvSpPr txBox="1"/>
          <p:nvPr/>
        </p:nvSpPr>
        <p:spPr>
          <a:xfrm>
            <a:off x="1447800" y="1440429"/>
            <a:ext cx="67818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u="sng" dirty="0">
                <a:latin typeface="Aptos" panose="020B0004020202020204" pitchFamily="34" charset="0"/>
              </a:rPr>
              <a:t>DATABASE DEMONSTRATION :</a:t>
            </a:r>
          </a:p>
          <a:p>
            <a:endParaRPr lang="en-IN" sz="2400" b="1" u="sng" dirty="0">
              <a:latin typeface="Aptos" panose="020B00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" panose="020B0004020202020204" pitchFamily="34" charset="0"/>
              </a:rPr>
              <a:t>During the live demonstration: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" panose="020B0004020202020204" pitchFamily="34" charset="0"/>
              </a:rPr>
              <a:t>Open </a:t>
            </a:r>
            <a:r>
              <a:rPr lang="en-IN" sz="2400" b="1" dirty="0">
                <a:latin typeface="Aptos" panose="020B0004020202020204" pitchFamily="34" charset="0"/>
              </a:rPr>
              <a:t>Oracle SQL*Plus</a:t>
            </a:r>
            <a:r>
              <a:rPr lang="en-IN" sz="2400" dirty="0">
                <a:latin typeface="Aptos" panose="020B0004020202020204" pitchFamily="34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" panose="020B0004020202020204" pitchFamily="34" charset="0"/>
              </a:rPr>
              <a:t>Show the database tables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" panose="020B0004020202020204" pitchFamily="34" charset="0"/>
              </a:rPr>
              <a:t>Display Patient records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" panose="020B0004020202020204" pitchFamily="34" charset="0"/>
              </a:rPr>
              <a:t>Execute a SELECT query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" panose="020B0004020202020204" pitchFamily="34" charset="0"/>
              </a:rPr>
              <a:t>Demonstrate a JOIN query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" panose="020B0004020202020204" pitchFamily="34" charset="0"/>
              </a:rPr>
              <a:t>Demonstrate UPDATE operation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" panose="020B0004020202020204" pitchFamily="34" charset="0"/>
              </a:rPr>
              <a:t>Demonstrate DELETE operation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" panose="020B0004020202020204" pitchFamily="34" charset="0"/>
              </a:rPr>
              <a:t>Explain the outputs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ABB4592-5775-79D7-4F02-0BE4F7025B51}"/>
              </a:ext>
            </a:extLst>
          </p:cNvPr>
          <p:cNvSpPr txBox="1"/>
          <p:nvPr/>
        </p:nvSpPr>
        <p:spPr>
          <a:xfrm>
            <a:off x="872251" y="1423788"/>
            <a:ext cx="8574881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" panose="020B0004020202020204" pitchFamily="34" charset="0"/>
              </a:rPr>
              <a:t>Successfully designed a Hospital Management System database.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" panose="020B0004020202020204" pitchFamily="34" charset="0"/>
              </a:rPr>
              <a:t>Implemented </a:t>
            </a:r>
            <a:r>
              <a:rPr lang="en-IN" sz="2400" b="1" dirty="0">
                <a:latin typeface="Aptos" panose="020B0004020202020204" pitchFamily="34" charset="0"/>
              </a:rPr>
              <a:t>8 relational tables</a:t>
            </a:r>
            <a:r>
              <a:rPr lang="en-IN" sz="2400" dirty="0">
                <a:latin typeface="Aptos" panose="020B0004020202020204" pitchFamily="34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" panose="020B0004020202020204" pitchFamily="34" charset="0"/>
              </a:rPr>
              <a:t>Established relationships using Primary and Foreign Keys.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" panose="020B0004020202020204" pitchFamily="34" charset="0"/>
              </a:rPr>
              <a:t>Stored patient, doctor, appointment, admission, treatment, billing and medicine information.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" panose="020B0004020202020204" pitchFamily="34" charset="0"/>
              </a:rPr>
              <a:t>Performed DDL, DML and DQL operations.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u="sng" dirty="0">
                <a:latin typeface="Aptos" panose="020B0004020202020204" pitchFamily="34" charset="0"/>
              </a:rPr>
              <a:t>Future Scope </a:t>
            </a:r>
            <a:r>
              <a:rPr lang="en-IN" sz="2400" b="1" dirty="0">
                <a:latin typeface="Aptos" panose="020B0004020202020204" pitchFamily="34" charset="0"/>
              </a:rPr>
              <a:t>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" panose="020B0004020202020204" pitchFamily="34" charset="0"/>
              </a:rPr>
              <a:t>Develop a graphical user interface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" panose="020B0004020202020204" pitchFamily="34" charset="0"/>
              </a:rPr>
              <a:t>Add user authentication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" panose="020B0004020202020204" pitchFamily="34" charset="0"/>
              </a:rPr>
              <a:t>Generate automated reports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" panose="020B0004020202020204" pitchFamily="34" charset="0"/>
              </a:rPr>
              <a:t>Add advanced analytics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object 3">
            <a:extLst>
              <a:ext uri="{FF2B5EF4-FFF2-40B4-BE49-F238E27FC236}">
                <a16:creationId xmlns:a16="http://schemas.microsoft.com/office/drawing/2014/main" id="{20B8B724-A73F-F006-222B-6A4FF27EB83E}"/>
              </a:ext>
            </a:extLst>
          </p:cNvPr>
          <p:cNvGrpSpPr/>
          <p:nvPr/>
        </p:nvGrpSpPr>
        <p:grpSpPr>
          <a:xfrm>
            <a:off x="2477248" y="152400"/>
            <a:ext cx="5103904" cy="1198311"/>
            <a:chOff x="2648188" y="47148"/>
            <a:chExt cx="5103904" cy="1198311"/>
          </a:xfrm>
        </p:grpSpPr>
        <p:pic>
          <p:nvPicPr>
            <p:cNvPr id="8" name="object 4">
              <a:extLst>
                <a:ext uri="{FF2B5EF4-FFF2-40B4-BE49-F238E27FC236}">
                  <a16:creationId xmlns:a16="http://schemas.microsoft.com/office/drawing/2014/main" id="{8D96FE08-6C48-29F6-B8BF-733A1FE4EFC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9" name="object 5">
              <a:extLst>
                <a:ext uri="{FF2B5EF4-FFF2-40B4-BE49-F238E27FC236}">
                  <a16:creationId xmlns:a16="http://schemas.microsoft.com/office/drawing/2014/main" id="{F663E0BF-F2C3-9990-10F0-85152F3B749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10" name="object 6">
              <a:extLst>
                <a:ext uri="{FF2B5EF4-FFF2-40B4-BE49-F238E27FC236}">
                  <a16:creationId xmlns:a16="http://schemas.microsoft.com/office/drawing/2014/main" id="{AF92C391-8A67-101D-C7DE-D42721562E9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5C67209A-2109-EE49-1C12-165FDE2056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9">
            <a:extLst>
              <a:ext uri="{FF2B5EF4-FFF2-40B4-BE49-F238E27FC236}">
                <a16:creationId xmlns:a16="http://schemas.microsoft.com/office/drawing/2014/main" id="{F513CBE2-66AF-A982-0CC5-B24C79BA95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45255" y="432593"/>
            <a:ext cx="216789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pic>
        <p:nvPicPr>
          <p:cNvPr id="13" name="object 3">
            <a:extLst>
              <a:ext uri="{FF2B5EF4-FFF2-40B4-BE49-F238E27FC236}">
                <a16:creationId xmlns:a16="http://schemas.microsoft.com/office/drawing/2014/main" id="{A2CEDFE4-2383-831F-CDEE-1CF3B0215E16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1927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5B32A-9B14-7FA0-D59B-AF32355B78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0" y="3352800"/>
            <a:ext cx="4038600" cy="738664"/>
          </a:xfrm>
        </p:spPr>
        <p:txBody>
          <a:bodyPr/>
          <a:lstStyle/>
          <a:p>
            <a:r>
              <a:rPr lang="en-IN" sz="4800" dirty="0">
                <a:solidFill>
                  <a:schemeClr val="accent6">
                    <a:lumMod val="75000"/>
                  </a:schemeClr>
                </a:solidFill>
              </a:rPr>
              <a:t>THANK YOU</a:t>
            </a: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82A927C3-140A-7ABC-91C2-249562DF33F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7787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8114</TotalTime>
  <Words>1073</Words>
  <Application>Microsoft Office PowerPoint</Application>
  <PresentationFormat>Custom</PresentationFormat>
  <Paragraphs>196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8" baseType="lpstr">
      <vt:lpstr>DengXian Light</vt:lpstr>
      <vt:lpstr>Aptos</vt:lpstr>
      <vt:lpstr>Arial</vt:lpstr>
      <vt:lpstr>Calibri</vt:lpstr>
      <vt:lpstr>Cambria</vt:lpstr>
      <vt:lpstr>Courier New</vt:lpstr>
      <vt:lpstr>Palatino Linotype</vt:lpstr>
      <vt:lpstr>Sitka Text</vt:lpstr>
      <vt:lpstr>Times New Roman</vt:lpstr>
      <vt:lpstr>Office Theme</vt:lpstr>
      <vt:lpstr>Data Base Management System Cornerstone Project  Final Review – I &amp;II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Zeroth Review</dc:title>
  <dc:creator>RESHMA BASAPATHI</dc:creator>
  <cp:lastModifiedBy>YALLA BHAVYA SRILEKHA</cp:lastModifiedBy>
  <cp:revision>53</cp:revision>
  <cp:lastPrinted>2025-10-14T18:21:49Z</cp:lastPrinted>
  <dcterms:created xsi:type="dcterms:W3CDTF">2025-10-10T08:28:06Z</dcterms:created>
  <dcterms:modified xsi:type="dcterms:W3CDTF">2026-09-29T13:39:50Z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2025-09-12T00:00:00Z</vt:filetime>
  </property>
  <property fmtid="{D5CDD505-2E9C-101B-9397-08002B2CF9AE}" pid="3" name="LastSaved">
    <vt:filetime>2025-10-10T00:00:00Z</vt:filetime>
  </property>
</Properties>
</file>